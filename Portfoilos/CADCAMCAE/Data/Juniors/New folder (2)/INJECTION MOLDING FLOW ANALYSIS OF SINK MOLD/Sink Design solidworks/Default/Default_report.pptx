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 autoCompressPictures="0">
  <p:sldMasterIdLst>
    <p:sldMasterId id="2147483648" r:id="rId1"/>
  </p:sldMasterIdLst>
  <p:notesMasterIdLst>
    <p:notesMasterId r:id="rId64"/>
  </p:notesMasterIdLst>
  <p:sldIdLst>
    <p:sldId id="347" r:id="rId2"/>
    <p:sldId id="385" r:id="rId3"/>
    <p:sldId id="390" r:id="rId4"/>
    <p:sldId id="348" r:id="rId5"/>
    <p:sldId id="349" r:id="rId6"/>
    <p:sldId id="350" r:id="rId7"/>
    <p:sldId id="383" r:id="rId8"/>
    <p:sldId id="384" r:id="rId9"/>
    <p:sldId id="387" r:id="rId10"/>
    <p:sldId id="388" r:id="rId11"/>
    <p:sldId id="351" r:id="rId12"/>
    <p:sldId id="355" r:id="rId13"/>
    <p:sldId id="356" r:id="rId14"/>
    <p:sldId id="357" r:id="rId15"/>
    <p:sldId id="358" r:id="rId16"/>
    <p:sldId id="359" r:id="rId17"/>
    <p:sldId id="398" r:id="rId18"/>
    <p:sldId id="371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414" r:id="rId35"/>
    <p:sldId id="415" r:id="rId36"/>
    <p:sldId id="416" r:id="rId37"/>
    <p:sldId id="392" r:id="rId38"/>
    <p:sldId id="393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  <p:sldId id="427" r:id="rId50"/>
    <p:sldId id="366" r:id="rId51"/>
    <p:sldId id="428" r:id="rId52"/>
    <p:sldId id="429" r:id="rId53"/>
    <p:sldId id="430" r:id="rId54"/>
    <p:sldId id="431" r:id="rId55"/>
    <p:sldId id="432" r:id="rId56"/>
    <p:sldId id="433" r:id="rId57"/>
    <p:sldId id="434" r:id="rId58"/>
    <p:sldId id="367" r:id="rId59"/>
    <p:sldId id="435" r:id="rId60"/>
    <p:sldId id="436" r:id="rId61"/>
    <p:sldId id="437" r:id="rId62"/>
    <p:sldId id="389" r:id="rId63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65"/>
      <p:bold r:id="rId66"/>
      <p:italic r:id="rId67"/>
      <p:boldItalic r:id="rId68"/>
    </p:embeddedFont>
    <p:embeddedFont>
      <p:font typeface="Trebuchet MS" panose="020B0603020202020204" pitchFamily="34" charset="0"/>
      <p:regular r:id="rId69"/>
      <p:bold r:id="rId70"/>
      <p:italic r:id="rId71"/>
      <p:boldItalic r:id="rId72"/>
    </p:embeddedFont>
    <p:embeddedFont>
      <p:font typeface="Calibri" panose="020F0502020204030204" pitchFamily="34" charset="0"/>
      <p:regular r:id="rId73"/>
      <p:bold r:id="rId74"/>
      <p:italic r:id="rId75"/>
      <p:boldItalic r:id="rId7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13236AF-B4C1-4B7B-8842-CB1734EE9349}">
          <p14:sldIdLst>
            <p14:sldId id="347"/>
            <p14:sldId id="385"/>
            <p14:sldId id="390"/>
            <p14:sldId id="348"/>
            <p14:sldId id="349"/>
            <p14:sldId id="350"/>
            <p14:sldId id="383"/>
            <p14:sldId id="384"/>
            <p14:sldId id="387"/>
            <p14:sldId id="388"/>
            <p14:sldId id="351"/>
            <p14:sldId id="355"/>
            <p14:sldId id="356"/>
            <p14:sldId id="357"/>
            <p14:sldId id="358"/>
          </p14:sldIdLst>
        </p14:section>
        <p14:section name="Fill Results" id="{8DAFAECC-3319-4C28-9C6F-4C5A78BFE522}">
          <p14:sldIdLst>
            <p14:sldId id="359"/>
            <p14:sldId id="398"/>
            <p14:sldId id="371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</p14:sldIdLst>
        </p14:section>
        <p14:section name="Pack Results" id="{6C80E9C6-21F9-4D8F-9890-192CE0BEC274}">
          <p14:sldIdLst>
            <p14:sldId id="392"/>
            <p14:sldId id="393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</p14:sldIdLst>
        </p14:section>
        <p14:section name="Material Parameter" id="{4D9F5DA2-ABEB-431E-8E7A-EEC4D3730830}">
          <p14:sldIdLst>
            <p14:sldId id="366"/>
            <p14:sldId id="428"/>
            <p14:sldId id="429"/>
            <p14:sldId id="430"/>
            <p14:sldId id="431"/>
            <p14:sldId id="432"/>
            <p14:sldId id="433"/>
            <p14:sldId id="434"/>
          </p14:sldIdLst>
        </p14:section>
        <p14:section name="X-Y Plot" id="{E0F98C08-43B3-47DF-A6C6-57D27D6DB01E}">
          <p14:sldIdLst>
            <p14:sldId id="367"/>
            <p14:sldId id="435"/>
            <p14:sldId id="436"/>
            <p14:sldId id="437"/>
            <p14:sldId id="3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F70"/>
    <a:srgbClr val="5B7F95"/>
    <a:srgbClr val="9AB3C2"/>
    <a:srgbClr val="BC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9" autoAdjust="0"/>
    <p:restoredTop sz="95332" autoAdjust="0"/>
  </p:normalViewPr>
  <p:slideViewPr>
    <p:cSldViewPr>
      <p:cViewPr varScale="1">
        <p:scale>
          <a:sx n="152" d="100"/>
          <a:sy n="152" d="100"/>
        </p:scale>
        <p:origin x="744" y="1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font" Target="fonts/font10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0B32D-A809-40D3-A59A-599AF9294825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EA34-A168-4ABC-BC9E-3EDDB45CFF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fr-BE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BE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BE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BE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905000" y="4767264"/>
            <a:ext cx="2895600" cy="27384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fr-BE" dirty="0" smtClean="0"/>
              <a:t>Analyzed with SOLIDWORKS Plastics</a:t>
            </a:r>
            <a:endParaRPr lang="fr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38000">
                <a:srgbClr val="BCCCD6"/>
              </a:gs>
              <a:gs pos="72000">
                <a:schemeClr val="bg1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8"/>
          <p:cNvSpPr txBox="1">
            <a:spLocks/>
          </p:cNvSpPr>
          <p:nvPr userDrawn="1"/>
        </p:nvSpPr>
        <p:spPr>
          <a:xfrm>
            <a:off x="2414587" y="4769069"/>
            <a:ext cx="215741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000" b="1" dirty="0" smtClean="0">
                <a:latin typeface="Arial Narrow" panose="020B0606020202030204" pitchFamily="34" charset="0"/>
              </a:rPr>
              <a:t>Analyzed with SOLIDWORKS Plastics</a:t>
            </a:r>
            <a:endParaRPr lang="fr-BE" sz="1000" b="1" dirty="0">
              <a:latin typeface="Arial Narrow" panose="020B0606020202030204" pitchFamily="34" charset="0"/>
            </a:endParaRPr>
          </a:p>
        </p:txBody>
      </p:sp>
      <p:sp>
        <p:nvSpPr>
          <p:cNvPr id="8" name="Footer Placeholder 8"/>
          <p:cNvSpPr txBox="1">
            <a:spLocks/>
          </p:cNvSpPr>
          <p:nvPr userDrawn="1"/>
        </p:nvSpPr>
        <p:spPr>
          <a:xfrm>
            <a:off x="6573672" y="4767264"/>
            <a:ext cx="215741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b="1" smtClean="0">
                <a:latin typeface="Arial Narrow" panose="020B0606020202030204" pitchFamily="34" charset="0"/>
              </a:rPr>
              <a:t>Simulation of Sink Design solidworks</a:t>
            </a:r>
            <a:endParaRPr lang="fr-BE" sz="1000" b="1" dirty="0">
              <a:latin typeface="Arial Narrow" panose="020B0606020202030204" pitchFamily="34" charset="0"/>
            </a:endParaRPr>
          </a:p>
        </p:txBody>
      </p:sp>
      <p:pic>
        <p:nvPicPr>
          <p:cNvPr id="9" name="Image 9">
            <a:extLst>
              <a:ext uri="{FF2B5EF4-FFF2-40B4-BE49-F238E27FC236}">
                <a16:creationId xmlns:a16="http://schemas.microsoft.com/office/drawing/2014/main" xmlns="" id="{128F492E-F07C-AA4E-9A1D-B76AC35A71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915" y="4710896"/>
            <a:ext cx="912068" cy="257365"/>
          </a:xfrm>
          <a:prstGeom prst="rect">
            <a:avLst/>
          </a:prstGeom>
        </p:spPr>
      </p:pic>
      <p:sp>
        <p:nvSpPr>
          <p:cNvPr id="10" name="Espace réservé du numéro de diapositive 6"/>
          <p:cNvSpPr txBox="1">
            <a:spLocks/>
          </p:cNvSpPr>
          <p:nvPr userDrawn="1"/>
        </p:nvSpPr>
        <p:spPr>
          <a:xfrm>
            <a:off x="6955908" y="4840655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4668DC-857F-487D-BFFA-8C0CA5037977}" type="slidenum">
              <a:rPr lang="fr-BE" smtClean="0">
                <a:latin typeface="Arial Narrow" panose="020B0606020202030204" pitchFamily="34" charset="0"/>
              </a:rPr>
              <a:pPr/>
              <a:t>‹#›</a:t>
            </a:fld>
            <a:endParaRPr lang="fr-BE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BE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BE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fr-BE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BE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A309A6D-C09C-4548-B29A-6CF363A7E532}" type="datetimeFigureOut">
              <a:rPr lang="fr-FR" smtClean="0"/>
              <a:pPr/>
              <a:t>22/04/2026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smtClean="0"/>
              <a:t>Cliquez pour modifier le style du titre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  <p:pic>
        <p:nvPicPr>
          <p:cNvPr id="7" name="Picture 6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4506002"/>
            <a:ext cx="10191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285750"/>
            <a:ext cx="6172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INJECTION MOLDING FLOW ANALYSIS OF SINK MOLD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15232" y="975946"/>
            <a:ext cx="3124200" cy="175328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&lt;</a:t>
            </a:r>
            <a:r>
              <a:rPr lang="en-US" dirty="0" err="1" smtClean="0">
                <a:solidFill>
                  <a:schemeClr val="tx1"/>
                </a:solidFill>
                <a:latin typeface="Arial Narrow" panose="020B0606020202030204" pitchFamily="34" charset="0"/>
              </a:rPr>
              <a:t>Study_Image</a:t>
            </a:r>
            <a:r>
              <a:rPr lang="en-US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/&gt;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617066"/>
              </p:ext>
            </p:extLst>
          </p:nvPr>
        </p:nvGraphicFramePr>
        <p:xfrm>
          <a:off x="808893" y="967154"/>
          <a:ext cx="5006339" cy="3010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6076">
                  <a:extLst>
                    <a:ext uri="{9D8B030D-6E8A-4147-A177-3AD203B41FA5}">
                      <a16:colId xmlns:a16="http://schemas.microsoft.com/office/drawing/2014/main" xmlns="" val="3111499856"/>
                    </a:ext>
                  </a:extLst>
                </a:gridCol>
                <a:gridCol w="3460263">
                  <a:extLst>
                    <a:ext uri="{9D8B030D-6E8A-4147-A177-3AD203B41FA5}">
                      <a16:colId xmlns:a16="http://schemas.microsoft.com/office/drawing/2014/main" xmlns="" val="2503092062"/>
                    </a:ext>
                  </a:extLst>
                </a:gridCol>
              </a:tblGrid>
              <a:tr h="263948">
                <a:tc>
                  <a:txBody>
                    <a:bodyPr/>
                    <a:lstStyle/>
                    <a:p>
                      <a:pPr marL="0" marR="0" algn="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mtClean="0">
                          <a:effectLst/>
                          <a:latin typeface="Arial Narrow" panose="020B0606020202030204" pitchFamily="34" charset="0"/>
                        </a:rPr>
                        <a:t>Date</a:t>
                      </a:r>
                      <a:endParaRPr lang="en-US" sz="1800" b="1" kern="1200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 smtClean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52319413"/>
                  </a:ext>
                </a:extLst>
              </a:tr>
              <a:tr h="26394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effectLst/>
                          <a:latin typeface="Arial Narrow" panose="020B0606020202030204" pitchFamily="34" charset="0"/>
                        </a:rPr>
                        <a:t>Created by</a:t>
                      </a:r>
                      <a:endParaRPr lang="en-US" sz="1800" b="1" kern="1200" dirty="0" smtClean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36288459"/>
                  </a:ext>
                </a:extLst>
              </a:tr>
              <a:tr h="26394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smtClean="0">
                          <a:effectLst/>
                          <a:latin typeface="Arial Narrow" panose="020B0606020202030204" pitchFamily="34" charset="0"/>
                        </a:rPr>
                        <a:t>Department</a:t>
                      </a:r>
                      <a:endParaRPr lang="en-US" sz="1800" b="1" kern="1200" dirty="0" smtClean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6495557"/>
                  </a:ext>
                </a:extLst>
              </a:tr>
              <a:tr h="263948">
                <a:tc>
                  <a:txBody>
                    <a:bodyPr/>
                    <a:lstStyle/>
                    <a:p>
                      <a:pPr marL="0" marR="0" algn="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mtClean="0">
                          <a:effectLst/>
                          <a:latin typeface="Arial Narrow" panose="020B0606020202030204" pitchFamily="34" charset="0"/>
                        </a:rPr>
                        <a:t>Organization</a:t>
                      </a:r>
                      <a:endParaRPr lang="en-US" sz="1800" b="1" kern="1200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 smtClean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9765126"/>
                  </a:ext>
                </a:extLst>
              </a:tr>
              <a:tr h="1115568">
                <a:tc>
                  <a:txBody>
                    <a:bodyPr/>
                    <a:lstStyle/>
                    <a:p>
                      <a:pPr marL="0" marR="0" algn="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Logo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 smtClean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82301646"/>
                  </a:ext>
                </a:extLst>
              </a:tr>
              <a:tr h="263948">
                <a:tc>
                  <a:txBody>
                    <a:bodyPr/>
                    <a:lstStyle/>
                    <a:p>
                      <a:pPr marL="0" marR="0" algn="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mtClean="0">
                          <a:effectLst/>
                          <a:latin typeface="Arial Narrow" panose="020B0606020202030204" pitchFamily="34" charset="0"/>
                        </a:rPr>
                        <a:t>URL</a:t>
                      </a:r>
                      <a:endParaRPr lang="en-US" sz="1800" b="1" kern="1200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 smtClean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4781621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32" y="975946"/>
            <a:ext cx="3124200" cy="175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5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Description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12395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02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Machine Information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4" name="Table 3" descr="&lt;Title_Num_Proc&gt;" title="&lt;Title_Num_Proc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920715"/>
              </p:ext>
            </p:extLst>
          </p:nvPr>
        </p:nvGraphicFramePr>
        <p:xfrm>
          <a:off x="609600" y="971550"/>
          <a:ext cx="7391400" cy="1905000"/>
        </p:xfrm>
        <a:graphic>
          <a:graphicData uri="http://schemas.openxmlformats.org/drawingml/2006/table">
            <a:tbl>
              <a:tblPr firstCol="1" bandRow="1">
                <a:tableStyleId>{616DA210-FB5B-4158-B5E0-FEB733F419BA}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34935446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xmlns="" val="173408712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Number of Processors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8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14258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Maximum number of threads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8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Number of available threads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8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Software type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Windows 10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SOLIDWORKS Plastics version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SOLIDWORKS Plastics Premium 2025 SP1.0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89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Study Characteristics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4" name="Table 3" descr="&lt;Title_Study_Char/&gt;" title="&lt;Title_Study_Char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571384"/>
              </p:ext>
            </p:extLst>
          </p:nvPr>
        </p:nvGraphicFramePr>
        <p:xfrm>
          <a:off x="609600" y="971550"/>
          <a:ext cx="7391400" cy="2667000"/>
        </p:xfrm>
        <a:graphic>
          <a:graphicData uri="http://schemas.openxmlformats.org/drawingml/2006/table">
            <a:tbl>
              <a:tblPr firstCol="1" bandRow="1">
                <a:tableStyleId>{616DA210-FB5B-4158-B5E0-FEB733F419BA}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xmlns="" val="234935446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xmlns="" val="173408712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Part name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Sink Design solidworks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14258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Configuration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Default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7279827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Study Name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FLOW ANALYSIS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352380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Injection Process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Single Material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338235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Number of Injection Units</a:t>
                      </a:r>
                      <a:endParaRPr lang="en-US" sz="1600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1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633973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Analysis (Mesh) Procedure</a:t>
                      </a:r>
                      <a:endParaRPr lang="en-US" sz="1600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Solid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647293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Simulation Type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Fill + Pack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3503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22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Injection Unit 1 Settings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5" name="Table 4" descr="&lt;Title_Inject_Unit_Set/&gt;" title="&lt;Title_Inject_Unit_Set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88010"/>
              </p:ext>
            </p:extLst>
          </p:nvPr>
        </p:nvGraphicFramePr>
        <p:xfrm>
          <a:off x="609600" y="971550"/>
          <a:ext cx="8153400" cy="3349676"/>
        </p:xfrm>
        <a:graphic>
          <a:graphicData uri="http://schemas.openxmlformats.org/drawingml/2006/table">
            <a:tbl>
              <a:tblPr firstCol="1" bandRow="1">
                <a:tableStyleId>{616DA210-FB5B-4158-B5E0-FEB733F419BA}</a:tableStyleId>
              </a:tblPr>
              <a:tblGrid>
                <a:gridCol w="4096272">
                  <a:extLst>
                    <a:ext uri="{9D8B030D-6E8A-4147-A177-3AD203B41FA5}">
                      <a16:colId xmlns:a16="http://schemas.microsoft.com/office/drawing/2014/main" xmlns="" val="2349354462"/>
                    </a:ext>
                  </a:extLst>
                </a:gridCol>
                <a:gridCol w="4057128">
                  <a:extLst>
                    <a:ext uri="{9D8B030D-6E8A-4147-A177-3AD203B41FA5}">
                      <a16:colId xmlns:a16="http://schemas.microsoft.com/office/drawing/2014/main" xmlns="" val="1734087126"/>
                    </a:ext>
                  </a:extLst>
                </a:gridCol>
              </a:tblGrid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Material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Generic material / Generic PP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1425824"/>
                  </a:ext>
                </a:extLst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Filling Time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Automatic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Melt Temperature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230 °C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Mold temperature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50 °C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Injection Pressure Limit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100 MPa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Fill/Pack Switch Point (% Filled Volume)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100 %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Temperature Criteria for Short Shots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135°C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Mold Temperature Profile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Off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Mold-Melt Heat Transfer Coefficient  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Off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Pressure Holding Time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Automatic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4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Pure Cooling Time</a:t>
                      </a:r>
                      <a:endParaRPr lang="en-US" sz="1600" b="1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80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78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Polymer Properties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915031"/>
            <a:ext cx="53050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Trade Name and Grade: Generic material / Generic PP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5" name="Table 3" descr="&lt;Title_Polymer_Parameters/&gt;" title="&lt;Title_Polymer_Parameter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445728"/>
              </p:ext>
            </p:extLst>
          </p:nvPr>
        </p:nvGraphicFramePr>
        <p:xfrm>
          <a:off x="994648" y="1428750"/>
          <a:ext cx="7154704" cy="1834896"/>
        </p:xfrm>
        <a:graphic>
          <a:graphicData uri="http://schemas.openxmlformats.org/drawingml/2006/table">
            <a:tbl>
              <a:tblPr firstCol="1">
                <a:tableStyleId>{793D81CF-94F2-401A-BA57-92F5A7B2D0C5}</a:tableStyleId>
              </a:tblPr>
              <a:tblGrid>
                <a:gridCol w="3102117">
                  <a:extLst>
                    <a:ext uri="{9D8B030D-6E8A-4147-A177-3AD203B41FA5}">
                      <a16:colId xmlns:a16="http://schemas.microsoft.com/office/drawing/2014/main" xmlns="" val="2732502578"/>
                    </a:ext>
                  </a:extLst>
                </a:gridCol>
                <a:gridCol w="4052587">
                  <a:extLst>
                    <a:ext uri="{9D8B030D-6E8A-4147-A177-3AD203B41FA5}">
                      <a16:colId xmlns:a16="http://schemas.microsoft.com/office/drawing/2014/main" xmlns="" val="95590345"/>
                    </a:ext>
                  </a:extLst>
                </a:gridCol>
              </a:tblGrid>
              <a:tr h="5905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effectLst/>
                        </a:rPr>
                        <a:t>Ejection Temperature</a:t>
                      </a:r>
                      <a:endParaRPr lang="en-US" sz="1600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95°C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83399793"/>
                  </a:ext>
                </a:extLst>
              </a:tr>
              <a:tr h="5905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effectLst/>
                        </a:rPr>
                        <a:t>Transition Temperature</a:t>
                      </a:r>
                      <a:endParaRPr lang="en-US" sz="160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135°C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4332385"/>
                  </a:ext>
                </a:extLst>
              </a:tr>
              <a:tr h="5905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effectLst/>
                        </a:rPr>
                        <a:t>Young Modulus</a:t>
                      </a:r>
                      <a:endParaRPr lang="en-US" sz="1600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E1: 1350 MPa,  E2: 1350 MPa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74975535"/>
                  </a:ext>
                </a:extLst>
              </a:tr>
              <a:tr h="59055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effectLst/>
                        </a:rPr>
                        <a:t>Poisson's Ratio</a:t>
                      </a:r>
                      <a:endParaRPr lang="en-US" sz="1600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v12: 0.4,  v23: 0.4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24064947"/>
                  </a:ext>
                </a:extLst>
              </a:tr>
              <a:tr h="5905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Max. Shear Rate</a:t>
                      </a:r>
                      <a:endParaRPr kumimoji="0"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100000 1/s    </a:t>
                      </a:r>
                      <a:endParaRPr kumimoji="0"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9376901"/>
                  </a:ext>
                </a:extLst>
              </a:tr>
              <a:tr h="5905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Max. Shear Stress</a:t>
                      </a:r>
                      <a:endParaRPr kumimoji="0"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0.25 MPa    </a:t>
                      </a:r>
                      <a:endParaRPr kumimoji="0" lang="en-US" sz="16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6312064"/>
                  </a:ext>
                </a:extLst>
              </a:tr>
              <a:tr h="5905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Fiber Percentage</a:t>
                      </a:r>
                      <a:endParaRPr kumimoji="0"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kern="1200" cap="none" spc="0" normalizeH="0" baseline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 Not Available</a:t>
                      </a:r>
                      <a:endParaRPr kumimoji="0" lang="en-US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2623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56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Domains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3" name="Table 2" descr="&lt;Title_Domains/&gt;" title="&lt;Title_Domain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121705"/>
              </p:ext>
            </p:extLst>
          </p:nvPr>
        </p:nvGraphicFramePr>
        <p:xfrm>
          <a:off x="1066800" y="971550"/>
          <a:ext cx="6858000" cy="1116198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320313">
                  <a:extLst>
                    <a:ext uri="{9D8B030D-6E8A-4147-A177-3AD203B41FA5}">
                      <a16:colId xmlns:a16="http://schemas.microsoft.com/office/drawing/2014/main" xmlns="" val="3708061510"/>
                    </a:ext>
                  </a:extLst>
                </a:gridCol>
                <a:gridCol w="4537687">
                  <a:extLst>
                    <a:ext uri="{9D8B030D-6E8A-4147-A177-3AD203B41FA5}">
                      <a16:colId xmlns:a16="http://schemas.microsoft.com/office/drawing/2014/main" xmlns="" val="1125225252"/>
                    </a:ext>
                  </a:extLst>
                </a:gridCol>
              </a:tblGrid>
              <a:tr h="3891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Name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 Image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3426203"/>
                  </a:ext>
                </a:extLst>
              </a:tr>
              <a:tr h="727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Combine2 (-Cavity-)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0" marR="0" indent="-5715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25000"/>
                        <a:buBlip>
                          <a:blip r:embed="rId2"/>
                        </a:buBlip>
                      </a:pPr>
                      <a:r>
                        <a:rPr lang="en-US" sz="40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02085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21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Boundary Conditions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9" name="Table 8" descr="&lt;Title_Boundary_Conditions/&gt;" title="&lt;Title_Boundary_Condition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341990"/>
              </p:ext>
            </p:extLst>
          </p:nvPr>
        </p:nvGraphicFramePr>
        <p:xfrm>
          <a:off x="609600" y="1192022"/>
          <a:ext cx="8458201" cy="1225425"/>
        </p:xfrm>
        <a:graphic>
          <a:graphicData uri="http://schemas.openxmlformats.org/drawingml/2006/table">
            <a:tbl>
              <a:tblPr firstCol="1">
                <a:tableStyleId>{D7AC3CCA-C797-4891-BE02-D94E43425B78}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xmlns="" val="3835108644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xmlns="" val="98354972"/>
                    </a:ext>
                  </a:extLst>
                </a:gridCol>
                <a:gridCol w="1934634">
                  <a:extLst>
                    <a:ext uri="{9D8B030D-6E8A-4147-A177-3AD203B41FA5}">
                      <a16:colId xmlns:a16="http://schemas.microsoft.com/office/drawing/2014/main" xmlns="" val="3992886568"/>
                    </a:ext>
                  </a:extLst>
                </a:gridCol>
                <a:gridCol w="1722967">
                  <a:extLst>
                    <a:ext uri="{9D8B030D-6E8A-4147-A177-3AD203B41FA5}">
                      <a16:colId xmlns:a16="http://schemas.microsoft.com/office/drawing/2014/main" xmlns="" val="4085925960"/>
                    </a:ext>
                  </a:extLst>
                </a:gridCol>
              </a:tblGrid>
              <a:tr h="2664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effectLst/>
                        </a:rPr>
                        <a:t>Name</a:t>
                      </a:r>
                      <a:endParaRPr lang="en-US" sz="16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mtClean="0">
                          <a:effectLst/>
                        </a:rPr>
                        <a:t>Image</a:t>
                      </a:r>
                      <a:endParaRPr lang="en-US" sz="1600" b="1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mtClean="0">
                          <a:effectLst/>
                        </a:rPr>
                        <a:t>Details</a:t>
                      </a:r>
                      <a:endParaRPr lang="en-US" sz="1600" b="1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0089796"/>
                  </a:ext>
                </a:extLst>
              </a:tr>
              <a:tr h="889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mtClean="0">
                          <a:effectLst/>
                        </a:rPr>
                        <a:t>Injection Location-1</a:t>
                      </a:r>
                      <a:endParaRPr lang="en-US" sz="1400" b="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85800" marR="0" indent="-6858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25000"/>
                        <a:buBlip>
                          <a:blip r:embed="rId2"/>
                        </a:buBlip>
                      </a:pPr>
                      <a:r>
                        <a:rPr lang="en-US" sz="4800" smtClean="0">
                          <a:effectLst/>
                        </a:rPr>
                        <a:t> </a:t>
                      </a:r>
                      <a:endParaRPr lang="en-US" sz="24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Entity name</a:t>
                      </a:r>
                      <a:endParaRPr lang="en-US" sz="1000" kern="1200" dirty="0" smtClean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3025" marR="73025" marT="36830" marB="3683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73025" marR="73025" marT="36830" marB="3683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91103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65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 descr="&lt;Title_Boundary_Conditions/&gt;" title="&lt;Title_Boundary_Condition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298680"/>
              </p:ext>
            </p:extLst>
          </p:nvPr>
        </p:nvGraphicFramePr>
        <p:xfrm>
          <a:off x="608400" y="1191600"/>
          <a:ext cx="8498294" cy="1212971"/>
        </p:xfrm>
        <a:graphic>
          <a:graphicData uri="http://schemas.openxmlformats.org/drawingml/2006/table">
            <a:tbl>
              <a:tblPr firstCol="1">
                <a:tableStyleId>{616DA210-FB5B-4158-B5E0-FEB733F419BA}</a:tableStyleId>
              </a:tblPr>
              <a:tblGrid>
                <a:gridCol w="1809668">
                  <a:extLst>
                    <a:ext uri="{9D8B030D-6E8A-4147-A177-3AD203B41FA5}">
                      <a16:colId xmlns:a16="http://schemas.microsoft.com/office/drawing/2014/main" xmlns="" val="3417825125"/>
                    </a:ext>
                  </a:extLst>
                </a:gridCol>
                <a:gridCol w="2997685">
                  <a:extLst>
                    <a:ext uri="{9D8B030D-6E8A-4147-A177-3AD203B41FA5}">
                      <a16:colId xmlns:a16="http://schemas.microsoft.com/office/drawing/2014/main" xmlns="" val="138498537"/>
                    </a:ext>
                  </a:extLst>
                </a:gridCol>
                <a:gridCol w="1938339">
                  <a:extLst>
                    <a:ext uri="{9D8B030D-6E8A-4147-A177-3AD203B41FA5}">
                      <a16:colId xmlns:a16="http://schemas.microsoft.com/office/drawing/2014/main" xmlns="" val="837709952"/>
                    </a:ext>
                  </a:extLst>
                </a:gridCol>
                <a:gridCol w="1752602">
                  <a:extLst>
                    <a:ext uri="{9D8B030D-6E8A-4147-A177-3AD203B41FA5}">
                      <a16:colId xmlns:a16="http://schemas.microsoft.com/office/drawing/2014/main" xmlns="" val="3895490380"/>
                    </a:ext>
                  </a:extLst>
                </a:gridCol>
              </a:tblGrid>
              <a:tr h="352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effectLst/>
                          <a:latin typeface="Arial Narrow" panose="020B0606020202030204" pitchFamily="34" charset="0"/>
                        </a:rPr>
                        <a:t>Name</a:t>
                      </a:r>
                      <a:endParaRPr lang="en-US" sz="16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mtClean="0">
                          <a:effectLst/>
                          <a:latin typeface="Arial Narrow" panose="020B0606020202030204" pitchFamily="34" charset="0"/>
                        </a:rPr>
                        <a:t>Image</a:t>
                      </a:r>
                      <a:endParaRPr lang="en-US" sz="1600" b="1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mtClean="0">
                          <a:effectLst/>
                          <a:latin typeface="Arial Narrow" panose="020B0606020202030204" pitchFamily="34" charset="0"/>
                        </a:rPr>
                        <a:t>Details</a:t>
                      </a:r>
                      <a:endParaRPr lang="en-US" sz="1600" b="1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38595263"/>
                  </a:ext>
                </a:extLst>
              </a:tr>
              <a:tr h="2821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mtClean="0">
                          <a:effectLst/>
                          <a:latin typeface="Arial Narrow" panose="020B0606020202030204" pitchFamily="34" charset="0"/>
                          <a:ea typeface="PMingLiU"/>
                          <a:cs typeface="Times New Roman" panose="02020603050405020304" pitchFamily="18" charset="0"/>
                        </a:rPr>
                        <a:t>Clamp Force-1</a:t>
                      </a:r>
                      <a:endParaRPr lang="en-US" sz="1400" b="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85800" marR="0" lvl="0" indent="-68580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zh-TW" sz="4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endParaRPr kumimoji="0" lang="en-US" altLang="zh-TW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mtClean="0">
                          <a:effectLst/>
                          <a:latin typeface="Arial Narrow" panose="020B0606020202030204" pitchFamily="34" charset="0"/>
                          <a:ea typeface="PMingLiU"/>
                          <a:cs typeface="Times New Roman" panose="02020603050405020304" pitchFamily="18" charset="0"/>
                        </a:rPr>
                        <a:t>Clamp Force Direction</a:t>
                      </a:r>
                      <a:endParaRPr lang="en-US" sz="10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01709563"/>
                  </a:ext>
                </a:extLst>
              </a:tr>
              <a:tr h="2821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mtClean="0">
                          <a:effectLst/>
                          <a:latin typeface="Arial Narrow" panose="020B0606020202030204" pitchFamily="34" charset="0"/>
                          <a:ea typeface="PMingLiU"/>
                          <a:cs typeface="Times New Roman" panose="02020603050405020304" pitchFamily="18" charset="0"/>
                        </a:rPr>
                        <a:t>Excluded Region</a:t>
                      </a:r>
                      <a:endParaRPr lang="en-US" sz="10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0868775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Boundary Conditions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50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 descr="&lt;Title_Boundary_Conditions/&gt;" title="&lt;Title_Boundary_Condition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944167"/>
              </p:ext>
            </p:extLst>
          </p:nvPr>
        </p:nvGraphicFramePr>
        <p:xfrm>
          <a:off x="609600" y="1192022"/>
          <a:ext cx="8464955" cy="1218947"/>
        </p:xfrm>
        <a:graphic>
          <a:graphicData uri="http://schemas.openxmlformats.org/drawingml/2006/table">
            <a:tbl>
              <a:tblPr firstCol="1">
                <a:tableStyleId>{616DA210-FB5B-4158-B5E0-FEB733F419BA}</a:tableStyleId>
              </a:tblPr>
              <a:tblGrid>
                <a:gridCol w="1809668">
                  <a:extLst>
                    <a:ext uri="{9D8B030D-6E8A-4147-A177-3AD203B41FA5}">
                      <a16:colId xmlns:a16="http://schemas.microsoft.com/office/drawing/2014/main" xmlns="" val="3417825125"/>
                    </a:ext>
                  </a:extLst>
                </a:gridCol>
                <a:gridCol w="2997685">
                  <a:extLst>
                    <a:ext uri="{9D8B030D-6E8A-4147-A177-3AD203B41FA5}">
                      <a16:colId xmlns:a16="http://schemas.microsoft.com/office/drawing/2014/main" xmlns="" val="13849853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xmlns="" val="837709952"/>
                    </a:ext>
                  </a:extLst>
                </a:gridCol>
                <a:gridCol w="1752602">
                  <a:extLst>
                    <a:ext uri="{9D8B030D-6E8A-4147-A177-3AD203B41FA5}">
                      <a16:colId xmlns:a16="http://schemas.microsoft.com/office/drawing/2014/main" xmlns="" val="3895490380"/>
                    </a:ext>
                  </a:extLst>
                </a:gridCol>
              </a:tblGrid>
              <a:tr h="2664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mtClean="0">
                          <a:effectLst/>
                          <a:latin typeface="Arial Narrow" panose="020B0606020202030204" pitchFamily="34" charset="0"/>
                        </a:rPr>
                        <a:t>Name</a:t>
                      </a:r>
                      <a:endParaRPr lang="en-US" sz="160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mtClean="0">
                          <a:effectLst/>
                          <a:latin typeface="Arial Narrow" panose="020B0606020202030204" pitchFamily="34" charset="0"/>
                        </a:rPr>
                        <a:t>Image</a:t>
                      </a:r>
                      <a:endParaRPr lang="en-US" sz="1600" b="1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smtClean="0">
                          <a:effectLst/>
                          <a:latin typeface="Arial Narrow" panose="020B0606020202030204" pitchFamily="34" charset="0"/>
                        </a:rPr>
                        <a:t>Details</a:t>
                      </a:r>
                      <a:endParaRPr lang="en-US" sz="1600" b="1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63678755"/>
                  </a:ext>
                </a:extLst>
              </a:tr>
              <a:tr h="89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smtClean="0">
                          <a:effectLst/>
                          <a:latin typeface="Arial Narrow" panose="020B0606020202030204" pitchFamily="34" charset="0"/>
                        </a:rPr>
                        <a:t>Air Vents-1</a:t>
                      </a:r>
                      <a:endParaRPr lang="en-US" sz="1400" b="0" dirty="0">
                        <a:effectLst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85800" marR="0" lvl="0" indent="-68580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25000"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r>
                        <a:rPr kumimoji="0" lang="en-US" altLang="zh-TW" sz="4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endParaRPr kumimoji="0" lang="en-US" altLang="zh-TW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73025" marR="73025" marT="36830" marB="3683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smtClean="0">
                          <a:effectLst/>
                          <a:latin typeface="Trebuchet MS" panose="020B0603020202020204" pitchFamily="34" charset="0"/>
                          <a:ea typeface="PMingLiU"/>
                          <a:cs typeface="Times New Roman" panose="02020603050405020304" pitchFamily="18" charset="0"/>
                        </a:rPr>
                        <a:t>Entity name</a:t>
                      </a:r>
                      <a:endParaRPr lang="en-US" sz="1100" dirty="0">
                        <a:effectLst/>
                        <a:latin typeface="Trebuchet MS" panose="020B060302020202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rebuchet MS" panose="020B0603020202020204" pitchFamily="34" charset="0"/>
                        <a:ea typeface="PMingLiU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1777866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Boundary Conditions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275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Global Parameters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915031"/>
            <a:ext cx="9332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General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421202"/>
            <a:ext cx="79248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mtClean="0">
                <a:solidFill>
                  <a:srgbClr val="002060"/>
                </a:solidFill>
                <a:latin typeface="Arial Narrow" panose="020B0606020202030204" pitchFamily="34" charset="0"/>
              </a:rPr>
              <a:t>Clamp Force Limit:  100 Tonne
Ambient Temperature:  30 °C
</a:t>
            </a:r>
            <a:endParaRPr lang="en-US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3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Global Parameters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915031"/>
            <a:ext cx="992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Fill-Pack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421202"/>
            <a:ext cx="80010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mtClean="0">
                <a:solidFill>
                  <a:srgbClr val="002060"/>
                </a:solidFill>
                <a:latin typeface="Arial Narrow" panose="020B0606020202030204" pitchFamily="34" charset="0"/>
              </a:rPr>
              <a:t>Gravity Downward Direction for fill:  -Y
Venting Analysis:  Off
Solver Type:  AMG
Volume of Fluid Algorithm:  CICSAM
</a:t>
            </a:r>
            <a:endParaRPr lang="en-US" altLang="zh-TW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5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Global Parameters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915031"/>
            <a:ext cx="680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Warp</a:t>
            </a:r>
            <a:endParaRPr lang="en-US" altLang="zh-TW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421202"/>
            <a:ext cx="79248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mtClean="0">
                <a:solidFill>
                  <a:srgbClr val="002060"/>
                </a:solidFill>
                <a:latin typeface="Arial Narrow" panose="020B0606020202030204" pitchFamily="34" charset="0"/>
              </a:rPr>
              <a:t>Gravity Downward Direction for warp:  -Y
Solver Type:  AMG
</a:t>
            </a:r>
            <a:endParaRPr lang="en-US" altLang="zh-TW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88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Global Parameters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915031"/>
            <a:ext cx="6174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Cool</a:t>
            </a:r>
            <a:endParaRPr lang="en-US" altLang="zh-TW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421202"/>
            <a:ext cx="80010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mtClean="0">
                <a:solidFill>
                  <a:srgbClr val="002060"/>
                </a:solidFill>
                <a:latin typeface="Arial Narrow" panose="020B0606020202030204" pitchFamily="34" charset="0"/>
              </a:rPr>
              <a:t>Mold Open Time:  5 sec
Specify control based on &lt;Ejection Temperature /Cooling Time &gt;:  Ejection Temperature 
Solver Type:  AMG
Analysis Method:  FEM-Linear
</a:t>
            </a:r>
            <a:endParaRPr lang="en-US" altLang="zh-TW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09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Mesh Details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2764972" y="809889"/>
            <a:ext cx="3430800" cy="3726000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&lt;</a:t>
            </a:r>
            <a:r>
              <a:rPr lang="en-US" altLang="zh-TW" dirty="0" err="1" smtClean="0">
                <a:solidFill>
                  <a:srgbClr val="002060"/>
                </a:solidFill>
                <a:latin typeface="Arial Narrow" panose="020B0606020202030204" pitchFamily="34" charset="0"/>
              </a:rPr>
              <a:t>Image_Mesh_Details</a:t>
            </a:r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/&gt;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972" y="809889"/>
            <a:ext cx="3430800" cy="37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2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Results Summary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315141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&lt;</a:t>
            </a:r>
            <a:r>
              <a:rPr lang="en-US" altLang="zh-TW" dirty="0" err="1" smtClean="0">
                <a:solidFill>
                  <a:srgbClr val="002060"/>
                </a:solidFill>
                <a:latin typeface="Arial Narrow" panose="020B0606020202030204" pitchFamily="34" charset="0"/>
              </a:rPr>
              <a:t>Results_Summary</a:t>
            </a:r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/&gt;</a:t>
            </a:r>
            <a:endParaRPr lang="en-US" altLang="zh-TW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15031"/>
            <a:ext cx="7315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Fill Results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" name="Table 3" descr="&lt;Table_Results/&gt;" title="&lt;Table_Result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706271"/>
              </p:ext>
            </p:extLst>
          </p:nvPr>
        </p:nvGraphicFramePr>
        <p:xfrm>
          <a:off x="685800" y="1401762"/>
          <a:ext cx="7391400" cy="2498916"/>
        </p:xfrm>
        <a:graphic>
          <a:graphicData uri="http://schemas.openxmlformats.org/drawingml/2006/table">
            <a:tbl>
              <a:tblPr firstCol="1" bandRow="1">
                <a:tableStyleId>{616DA210-FB5B-4158-B5E0-FEB733F419BA}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34935446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xmlns="" val="1734087126"/>
                    </a:ext>
                  </a:extLst>
                </a:gridCol>
              </a:tblGrid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Clamp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2.4426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1425824"/>
                  </a:ext>
                </a:extLst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X-dir. Clamping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1.1999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Y-dir. Clamping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2.4426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Z-dir. Clamping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1.2252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Required injection pressure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8.3592 Mpa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real temperature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230.1567 °C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bulk temperature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230.1565 °C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shear stress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0.2409 Mpa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shear rate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2883.3990 1/sec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8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Results Summary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315141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&lt;</a:t>
            </a:r>
            <a:r>
              <a:rPr lang="en-US" altLang="zh-TW" dirty="0" err="1" smtClean="0">
                <a:solidFill>
                  <a:srgbClr val="002060"/>
                </a:solidFill>
                <a:latin typeface="Arial Narrow" panose="020B0606020202030204" pitchFamily="34" charset="0"/>
              </a:rPr>
              <a:t>Results_Summary</a:t>
            </a:r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/&gt;</a:t>
            </a:r>
            <a:endParaRPr lang="en-US" altLang="zh-TW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15031"/>
            <a:ext cx="7315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Fill Results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" name="Table 3" descr="&lt;Table_Results/&gt;" title="&lt;Table_Result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894646"/>
              </p:ext>
            </p:extLst>
          </p:nvPr>
        </p:nvGraphicFramePr>
        <p:xfrm>
          <a:off x="685800" y="1401762"/>
          <a:ext cx="7391400" cy="1938084"/>
        </p:xfrm>
        <a:graphic>
          <a:graphicData uri="http://schemas.openxmlformats.org/drawingml/2006/table">
            <a:tbl>
              <a:tblPr firstCol="1" bandRow="1">
                <a:tableStyleId>{616DA210-FB5B-4158-B5E0-FEB733F419BA}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34935446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xmlns="" val="1734087126"/>
                    </a:ext>
                  </a:extLst>
                </a:gridCol>
              </a:tblGrid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CPU Time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717.59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1425824"/>
                  </a:ext>
                </a:extLst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Cycle Time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115.16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1. Filling Time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10.16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2. Total Time in Pack Stage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100.00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a). Pressure Holding Time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20.27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b). Pure Cooling Time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79.73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3. Mold Open Time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5.00  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3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171361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Filling Animation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Filling Animation">
            <a:hlinkClick r:id="" action="ppaction://media"/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43408" y="1469030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3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9682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Fill Time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6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25254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Pressure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0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58833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Temperature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1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05275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Bulk Temperature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6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41155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Flow Front Temperature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1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32411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Temperature Growth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4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62604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Shear Stress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3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47215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Shear Rate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39676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Volumetric Shrinkage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8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74280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Freezing Time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4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141391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Cooling Time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0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03397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Temperature at End of Cooling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3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55518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Frozen Area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5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78890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Velocity Vector at End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7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4368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Gate Filling Contribution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8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122341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Ease of Fill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5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122136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Weld Lines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32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1027782" cy="495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Air Traps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1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Results Summary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315141"/>
            <a:ext cx="838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&lt;</a:t>
            </a:r>
            <a:r>
              <a:rPr lang="en-US" altLang="zh-TW" dirty="0" err="1" smtClean="0">
                <a:solidFill>
                  <a:srgbClr val="002060"/>
                </a:solidFill>
                <a:latin typeface="Arial Narrow" panose="020B0606020202030204" pitchFamily="34" charset="0"/>
              </a:rPr>
              <a:t>Results_Summary</a:t>
            </a:r>
            <a:r>
              <a:rPr lang="en-US" altLang="zh-TW" dirty="0" smtClean="0">
                <a:solidFill>
                  <a:srgbClr val="002060"/>
                </a:solidFill>
                <a:latin typeface="Arial Narrow" panose="020B0606020202030204" pitchFamily="34" charset="0"/>
              </a:rPr>
              <a:t>/&gt;</a:t>
            </a:r>
            <a:endParaRPr lang="en-US" altLang="zh-TW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915031"/>
            <a:ext cx="7315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Pack Results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" name="Table 3" descr="&lt;Table_Results/&gt;" title="&lt;Table_Results/&g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240143"/>
              </p:ext>
            </p:extLst>
          </p:nvPr>
        </p:nvGraphicFramePr>
        <p:xfrm>
          <a:off x="685800" y="1401762"/>
          <a:ext cx="7391400" cy="2779332"/>
        </p:xfrm>
        <a:graphic>
          <a:graphicData uri="http://schemas.openxmlformats.org/drawingml/2006/table">
            <a:tbl>
              <a:tblPr firstCol="1" bandRow="1">
                <a:tableStyleId>{616DA210-FB5B-4158-B5E0-FEB733F419BA}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34935446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xmlns="" val="1734087126"/>
                    </a:ext>
                  </a:extLst>
                </a:gridCol>
              </a:tblGrid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Clamp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effectLst/>
                          <a:latin typeface="Arial Narrow" panose="020B0606020202030204" pitchFamily="34" charset="0"/>
                        </a:rPr>
                        <a:t>  29.5291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21425824"/>
                  </a:ext>
                </a:extLst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X-dir. Clamping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14.3119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Y-dir. Clamping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29.5291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Z-dir. Clamping Force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14.7500 Tonne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real temperature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229.3655 °C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bulk temperature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230.0257 °C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shear stress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0.3484 Mpa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shear rate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0.3235 1/sec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Max. residual stress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59.1820 Mpa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68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Mass at the end of packing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 502.88 (g)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14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73504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Pressure at End of Packing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5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0708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Temperature at End of Packing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4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53526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Bulk Temperature at End of Packing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1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59237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Density at End of Packing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3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10854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Shear Stress at End of Packing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37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95465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Shear Rate at End of Packing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87926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Volumetric Shrinkage at End of Packing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1285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Temperature at Post-Filling End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7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28301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Freezing Time at Post-Filling End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42273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Residual Stress at Post-Filling End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1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226536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Sink Marks at Ejection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7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915031"/>
            <a:ext cx="3095399" cy="495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Frozen Area at Post-Filling End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8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3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3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4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8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0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915031"/>
            <a:ext cx="19720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Material Parameter</a:t>
            </a:r>
            <a:endParaRPr lang="en-US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2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808970"/>
            <a:ext cx="541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Max. Injection Pressure</a:t>
            </a:r>
            <a:endParaRPr lang="en-US" altLang="zh-TW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4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808970"/>
            <a:ext cx="541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Melt Front Flow Rate</a:t>
            </a:r>
            <a:endParaRPr lang="en-US" altLang="zh-TW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8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808970"/>
            <a:ext cx="541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Clamp Force</a:t>
            </a:r>
            <a:endParaRPr lang="en-US" altLang="zh-TW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X-Y Plot</a:t>
            </a:r>
            <a:endParaRPr lang="en-US" altLang="zh-TW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808970"/>
            <a:ext cx="5410200" cy="495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smtClean="0">
                <a:solidFill>
                  <a:srgbClr val="002060"/>
                </a:solidFill>
                <a:latin typeface="Arial Narrow" panose="020B0606020202030204" pitchFamily="34" charset="0"/>
              </a:rPr>
              <a:t>Part Mass</a:t>
            </a:r>
            <a:endParaRPr lang="en-US" altLang="zh-TW" sz="20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2243408" y="1469029"/>
            <a:ext cx="4309792" cy="325862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</a:t>
            </a:r>
            <a:r>
              <a:rPr lang="en-US" dirty="0" err="1" smtClean="0"/>
              <a:t>Image_Res</a:t>
            </a:r>
            <a:r>
              <a:rPr lang="en-US" dirty="0"/>
              <a:t>&gt;</a:t>
            </a:r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08" y="1469029"/>
            <a:ext cx="4309792" cy="32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Arial Narrow" panose="020B0606020202030204" pitchFamily="34" charset="0"/>
              </a:rPr>
              <a:t>Conclusion</a:t>
            </a:r>
            <a:endParaRPr lang="en-US" sz="28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27635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231541"/>
      </p:ext>
    </p:extLst>
  </p:cSld>
  <p:clrMapOvr>
    <a:masterClrMapping/>
  </p:clrMapOvr>
</p:sld>
</file>

<file path=ppt/theme/theme1.xml><?xml version="1.0" encoding="utf-8"?>
<a:theme xmlns:a="http://schemas.openxmlformats.org/drawingml/2006/main" name="No Layout presentation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tform template with DSS logo &amp; other details.potx" id="{CB6EC193-08FB-4E90-99B0-0A3101982C3E}" vid="{724F3E3B-F49D-4B58-9040-7BF6BD0B9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845</Words>
  <Application>Microsoft Office PowerPoint</Application>
  <PresentationFormat>On-screen Show (16:9)</PresentationFormat>
  <Paragraphs>275</Paragraphs>
  <Slides>62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Arial Narrow</vt:lpstr>
      <vt:lpstr>Arial</vt:lpstr>
      <vt:lpstr>Trebuchet MS</vt:lpstr>
      <vt:lpstr>新細明體</vt:lpstr>
      <vt:lpstr>Calibri</vt:lpstr>
      <vt:lpstr>新細明體</vt:lpstr>
      <vt:lpstr>Times New Roman</vt:lpstr>
      <vt:lpstr>No Layout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2021-10-27T11:53:47Z</dcterms:created>
  <dcterms:modified xsi:type="dcterms:W3CDTF">2026-04-22T06:03:47Z</dcterms:modified>
</cp:coreProperties>
</file>